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033" y="2455659"/>
            <a:ext cx="8648065" cy="109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2901" cy="237979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609" y="2798368"/>
            <a:ext cx="3913504" cy="39135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2930" y="2798368"/>
            <a:ext cx="2775026" cy="39135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30284" y="2708059"/>
            <a:ext cx="7277265" cy="4094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87710" y="705277"/>
            <a:ext cx="4361815" cy="109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561" y="5004092"/>
            <a:ext cx="16941800" cy="265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hyperlink" Target="http://98.80.39.0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9614" y="8258530"/>
              <a:ext cx="2619692" cy="92403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928995" cy="37084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78711" y="3669080"/>
            <a:ext cx="12809220" cy="688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50" spc="-235"/>
              <a:t>SIMULADOR</a:t>
            </a:r>
            <a:r>
              <a:rPr dirty="0" sz="4350" spc="-440"/>
              <a:t> </a:t>
            </a:r>
            <a:r>
              <a:rPr dirty="0" sz="4350" spc="-120"/>
              <a:t>DE</a:t>
            </a:r>
            <a:r>
              <a:rPr dirty="0" sz="4350" spc="-434"/>
              <a:t> </a:t>
            </a:r>
            <a:r>
              <a:rPr dirty="0" sz="4350" spc="-240"/>
              <a:t>ESCALONAMENTO</a:t>
            </a:r>
            <a:r>
              <a:rPr dirty="0" sz="4350" spc="-434"/>
              <a:t> </a:t>
            </a:r>
            <a:r>
              <a:rPr dirty="0" sz="4350" spc="-120"/>
              <a:t>DE</a:t>
            </a:r>
            <a:r>
              <a:rPr dirty="0" sz="4350" spc="-440"/>
              <a:t> </a:t>
            </a:r>
            <a:r>
              <a:rPr dirty="0" sz="4350" spc="-180"/>
              <a:t>PROCESSOS</a:t>
            </a:r>
            <a:endParaRPr sz="4350"/>
          </a:p>
        </p:txBody>
      </p:sp>
      <p:sp>
        <p:nvSpPr>
          <p:cNvPr id="7" name="object 7" descr=""/>
          <p:cNvSpPr txBox="1"/>
          <p:nvPr/>
        </p:nvSpPr>
        <p:spPr>
          <a:xfrm>
            <a:off x="3656914" y="6910196"/>
            <a:ext cx="9757410" cy="2085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280" b="1">
                <a:solidFill>
                  <a:srgbClr val="4A9BB3"/>
                </a:solidFill>
                <a:latin typeface="Arial"/>
                <a:cs typeface="Arial"/>
              </a:rPr>
              <a:t>ALGORITMOS</a:t>
            </a:r>
            <a:r>
              <a:rPr dirty="0" sz="5200" spc="-570" b="1">
                <a:solidFill>
                  <a:srgbClr val="4A9BB3"/>
                </a:solidFill>
                <a:latin typeface="Arial"/>
                <a:cs typeface="Arial"/>
              </a:rPr>
              <a:t> </a:t>
            </a:r>
            <a:r>
              <a:rPr dirty="0" sz="5200" b="1">
                <a:solidFill>
                  <a:srgbClr val="4A9BB3"/>
                </a:solidFill>
                <a:latin typeface="Arial"/>
                <a:cs typeface="Arial"/>
              </a:rPr>
              <a:t>E</a:t>
            </a:r>
            <a:r>
              <a:rPr dirty="0" sz="5200" spc="-570" b="1">
                <a:solidFill>
                  <a:srgbClr val="4A9BB3"/>
                </a:solidFill>
                <a:latin typeface="Arial"/>
                <a:cs typeface="Arial"/>
              </a:rPr>
              <a:t> </a:t>
            </a:r>
            <a:r>
              <a:rPr dirty="0" sz="5200" spc="-285" b="1">
                <a:solidFill>
                  <a:srgbClr val="4A9BB3"/>
                </a:solidFill>
                <a:latin typeface="Arial"/>
                <a:cs typeface="Arial"/>
              </a:rPr>
              <a:t>COMPLEXIDADE</a:t>
            </a:r>
            <a:endParaRPr sz="5200">
              <a:latin typeface="Arial"/>
              <a:cs typeface="Arial"/>
            </a:endParaRPr>
          </a:p>
          <a:p>
            <a:pPr marL="3007995">
              <a:lnSpc>
                <a:spcPct val="100000"/>
              </a:lnSpc>
              <a:spcBef>
                <a:spcPts val="5535"/>
              </a:spcBef>
            </a:pPr>
            <a:r>
              <a:rPr dirty="0" sz="3700" spc="105" b="1">
                <a:latin typeface="Arial"/>
                <a:cs typeface="Arial"/>
              </a:rPr>
              <a:t>Aluno:</a:t>
            </a:r>
            <a:r>
              <a:rPr dirty="0" sz="3700" spc="310" b="1">
                <a:latin typeface="Arial"/>
                <a:cs typeface="Arial"/>
              </a:rPr>
              <a:t> </a:t>
            </a:r>
            <a:r>
              <a:rPr dirty="0" sz="3700" spc="105" b="1">
                <a:latin typeface="Arial"/>
                <a:cs typeface="Arial"/>
              </a:rPr>
              <a:t>Thiago</a:t>
            </a:r>
            <a:r>
              <a:rPr dirty="0" sz="3700" spc="310" b="1">
                <a:latin typeface="Arial"/>
                <a:cs typeface="Arial"/>
              </a:rPr>
              <a:t> </a:t>
            </a:r>
            <a:r>
              <a:rPr dirty="0" sz="3700" spc="105" b="1">
                <a:latin typeface="Arial"/>
                <a:cs typeface="Arial"/>
              </a:rPr>
              <a:t>Rodrigues</a:t>
            </a:r>
            <a:endParaRPr sz="3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68613" y="4866995"/>
            <a:ext cx="673290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40">
                <a:latin typeface="Arial"/>
                <a:cs typeface="Arial"/>
              </a:rPr>
              <a:t>Uma</a:t>
            </a:r>
            <a:r>
              <a:rPr dirty="0" sz="3150" spc="-310">
                <a:latin typeface="Arial"/>
                <a:cs typeface="Arial"/>
              </a:rPr>
              <a:t> </a:t>
            </a:r>
            <a:r>
              <a:rPr dirty="0" sz="3150" spc="-160">
                <a:latin typeface="Arial"/>
                <a:cs typeface="Arial"/>
              </a:rPr>
              <a:t>Análise</a:t>
            </a:r>
            <a:r>
              <a:rPr dirty="0" sz="3150" spc="-310">
                <a:latin typeface="Arial"/>
                <a:cs typeface="Arial"/>
              </a:rPr>
              <a:t> </a:t>
            </a:r>
            <a:r>
              <a:rPr dirty="0" sz="3150" spc="-155">
                <a:latin typeface="Arial"/>
                <a:cs typeface="Arial"/>
              </a:rPr>
              <a:t>Visual</a:t>
            </a:r>
            <a:r>
              <a:rPr dirty="0" sz="3150" spc="-305">
                <a:latin typeface="Arial"/>
                <a:cs typeface="Arial"/>
              </a:rPr>
              <a:t> </a:t>
            </a:r>
            <a:r>
              <a:rPr dirty="0" sz="3150" spc="-95">
                <a:latin typeface="Arial"/>
                <a:cs typeface="Arial"/>
              </a:rPr>
              <a:t>de</a:t>
            </a:r>
            <a:r>
              <a:rPr dirty="0" sz="3150" spc="-310">
                <a:latin typeface="Arial"/>
                <a:cs typeface="Arial"/>
              </a:rPr>
              <a:t> </a:t>
            </a:r>
            <a:r>
              <a:rPr dirty="0" sz="3150" spc="-170">
                <a:latin typeface="Arial"/>
                <a:cs typeface="Arial"/>
              </a:rPr>
              <a:t>Algoritmos</a:t>
            </a:r>
            <a:r>
              <a:rPr dirty="0" sz="3150" spc="-305">
                <a:latin typeface="Arial"/>
                <a:cs typeface="Arial"/>
              </a:rPr>
              <a:t> </a:t>
            </a:r>
            <a:r>
              <a:rPr dirty="0" sz="3150" spc="-95">
                <a:latin typeface="Arial"/>
                <a:cs typeface="Arial"/>
              </a:rPr>
              <a:t>de</a:t>
            </a:r>
            <a:r>
              <a:rPr dirty="0" sz="3150" spc="-310">
                <a:latin typeface="Arial"/>
                <a:cs typeface="Arial"/>
              </a:rPr>
              <a:t> </a:t>
            </a:r>
            <a:r>
              <a:rPr dirty="0" sz="3150" spc="-30">
                <a:latin typeface="Arial"/>
                <a:cs typeface="Arial"/>
              </a:rPr>
              <a:t>CPU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778" y="1590395"/>
            <a:ext cx="3814445" cy="1099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5"/>
              <a:t>Introdução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0" y="2716060"/>
            <a:ext cx="18288000" cy="7571105"/>
          </a:xfrm>
          <a:custGeom>
            <a:avLst/>
            <a:gdLst/>
            <a:ahLst/>
            <a:cxnLst/>
            <a:rect l="l" t="t" r="r" b="b"/>
            <a:pathLst>
              <a:path w="18288000" h="7571105">
                <a:moveTo>
                  <a:pt x="18288000" y="0"/>
                </a:moveTo>
                <a:lnTo>
                  <a:pt x="0" y="0"/>
                </a:lnTo>
                <a:lnTo>
                  <a:pt x="0" y="7570939"/>
                </a:lnTo>
                <a:lnTo>
                  <a:pt x="18288000" y="7570939"/>
                </a:lnTo>
                <a:lnTo>
                  <a:pt x="18288000" y="0"/>
                </a:lnTo>
                <a:close/>
              </a:path>
            </a:pathLst>
          </a:custGeom>
          <a:solidFill>
            <a:srgbClr val="74BC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2735" algn="l"/>
              </a:tabLst>
            </a:pPr>
            <a:r>
              <a:rPr dirty="0"/>
              <a:t>EM</a:t>
            </a:r>
            <a:r>
              <a:rPr dirty="0" spc="-60"/>
              <a:t> </a:t>
            </a:r>
            <a:r>
              <a:rPr dirty="0"/>
              <a:t>UM</a:t>
            </a:r>
            <a:r>
              <a:rPr dirty="0" spc="-55"/>
              <a:t> </a:t>
            </a:r>
            <a:r>
              <a:rPr dirty="0"/>
              <a:t>SISTEMA</a:t>
            </a:r>
            <a:r>
              <a:rPr dirty="0" spc="-60"/>
              <a:t> </a:t>
            </a:r>
            <a:r>
              <a:rPr dirty="0"/>
              <a:t>OPERACIONAL,</a:t>
            </a:r>
            <a:r>
              <a:rPr dirty="0" spc="-55"/>
              <a:t> </a:t>
            </a:r>
            <a:r>
              <a:rPr dirty="0"/>
              <a:t>MÚLTIPLOS</a:t>
            </a:r>
            <a:r>
              <a:rPr dirty="0" spc="-60"/>
              <a:t> </a:t>
            </a:r>
            <a:r>
              <a:rPr dirty="0"/>
              <a:t>PROCESSOS</a:t>
            </a:r>
            <a:r>
              <a:rPr dirty="0" spc="-55"/>
              <a:t> </a:t>
            </a:r>
            <a:r>
              <a:rPr dirty="0"/>
              <a:t>(PROGRAMAS)</a:t>
            </a:r>
            <a:r>
              <a:rPr dirty="0" spc="-60"/>
              <a:t> </a:t>
            </a:r>
            <a:r>
              <a:rPr dirty="0"/>
              <a:t>PRECISAM</a:t>
            </a:r>
            <a:r>
              <a:rPr dirty="0" spc="-55"/>
              <a:t> </a:t>
            </a:r>
            <a:r>
              <a:rPr dirty="0"/>
              <a:t>USAR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20"/>
              <a:t>CPU.</a:t>
            </a:r>
          </a:p>
          <a:p>
            <a:pPr marL="292735" indent="-280035">
              <a:lnSpc>
                <a:spcPct val="100000"/>
              </a:lnSpc>
              <a:spcBef>
                <a:spcPts val="2750"/>
              </a:spcBef>
              <a:buFont typeface="Arial"/>
              <a:buChar char="•"/>
              <a:tabLst>
                <a:tab pos="292735" algn="l"/>
              </a:tabLst>
            </a:pPr>
            <a:r>
              <a:rPr dirty="0"/>
              <a:t>O</a:t>
            </a:r>
            <a:r>
              <a:rPr dirty="0" spc="-55"/>
              <a:t> </a:t>
            </a:r>
            <a:r>
              <a:rPr dirty="0"/>
              <a:t>Escalonador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CPU</a:t>
            </a:r>
            <a:r>
              <a:rPr dirty="0" spc="-50"/>
              <a:t> </a:t>
            </a:r>
            <a:r>
              <a:rPr dirty="0"/>
              <a:t>é</a:t>
            </a:r>
            <a:r>
              <a:rPr dirty="0" spc="-50"/>
              <a:t> </a:t>
            </a:r>
            <a:r>
              <a:rPr dirty="0"/>
              <a:t>o</a:t>
            </a:r>
            <a:r>
              <a:rPr dirty="0" spc="-55"/>
              <a:t> </a:t>
            </a:r>
            <a:r>
              <a:rPr dirty="0"/>
              <a:t>componente</a:t>
            </a:r>
            <a:r>
              <a:rPr dirty="0" spc="-50"/>
              <a:t> </a:t>
            </a:r>
            <a:r>
              <a:rPr dirty="0"/>
              <a:t>que</a:t>
            </a:r>
            <a:r>
              <a:rPr dirty="0" spc="-55"/>
              <a:t> </a:t>
            </a:r>
            <a:r>
              <a:rPr dirty="0"/>
              <a:t>decide</a:t>
            </a:r>
            <a:r>
              <a:rPr dirty="0" spc="-50"/>
              <a:t> </a:t>
            </a:r>
            <a:r>
              <a:rPr dirty="0"/>
              <a:t>qual</a:t>
            </a:r>
            <a:r>
              <a:rPr dirty="0" spc="-50"/>
              <a:t> </a:t>
            </a:r>
            <a:r>
              <a:rPr dirty="0"/>
              <a:t>processo</a:t>
            </a:r>
            <a:r>
              <a:rPr dirty="0" spc="-55"/>
              <a:t> </a:t>
            </a:r>
            <a:r>
              <a:rPr dirty="0"/>
              <a:t>executar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seguir.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</a:p>
          <a:p>
            <a:pPr marL="292735" marR="5080" indent="-280670">
              <a:lnSpc>
                <a:spcPts val="2930"/>
              </a:lnSpc>
              <a:buFont typeface="Arial"/>
              <a:buChar char="•"/>
              <a:tabLst>
                <a:tab pos="292735" algn="l"/>
              </a:tabLst>
            </a:pPr>
            <a:r>
              <a:rPr dirty="0"/>
              <a:t>OBS</a:t>
            </a:r>
            <a:r>
              <a:rPr dirty="0" spc="-50"/>
              <a:t> </a:t>
            </a:r>
            <a:r>
              <a:rPr dirty="0"/>
              <a:t>:</a:t>
            </a:r>
            <a:r>
              <a:rPr dirty="0" spc="-45"/>
              <a:t> </a:t>
            </a:r>
            <a:r>
              <a:rPr dirty="0"/>
              <a:t>NÃO</a:t>
            </a:r>
            <a:r>
              <a:rPr dirty="0" spc="-45"/>
              <a:t> </a:t>
            </a:r>
            <a:r>
              <a:rPr dirty="0"/>
              <a:t>EXISTE</a:t>
            </a:r>
            <a:r>
              <a:rPr dirty="0" spc="-50"/>
              <a:t> </a:t>
            </a:r>
            <a:r>
              <a:rPr dirty="0"/>
              <a:t>UM</a:t>
            </a:r>
            <a:r>
              <a:rPr dirty="0" spc="-45"/>
              <a:t> </a:t>
            </a:r>
            <a:r>
              <a:rPr dirty="0"/>
              <a:t>ALGORITMO</a:t>
            </a:r>
            <a:r>
              <a:rPr dirty="0" spc="-45"/>
              <a:t> </a:t>
            </a:r>
            <a:r>
              <a:rPr dirty="0"/>
              <a:t>"MELHOR"</a:t>
            </a:r>
            <a:r>
              <a:rPr dirty="0" spc="-50"/>
              <a:t> </a:t>
            </a:r>
            <a:r>
              <a:rPr dirty="0"/>
              <a:t>OU</a:t>
            </a:r>
            <a:r>
              <a:rPr dirty="0" spc="-45"/>
              <a:t> </a:t>
            </a:r>
            <a:r>
              <a:rPr dirty="0"/>
              <a:t>"PIOR"</a:t>
            </a:r>
            <a:r>
              <a:rPr dirty="0" spc="-45"/>
              <a:t> </a:t>
            </a:r>
            <a:r>
              <a:rPr dirty="0"/>
              <a:t>EM</a:t>
            </a:r>
            <a:r>
              <a:rPr dirty="0" spc="-45"/>
              <a:t> </a:t>
            </a:r>
            <a:r>
              <a:rPr dirty="0"/>
              <a:t>ABSOLUTO;</a:t>
            </a:r>
            <a:r>
              <a:rPr dirty="0" spc="-50"/>
              <a:t> </a:t>
            </a:r>
            <a:r>
              <a:rPr dirty="0"/>
              <a:t>EXISTE</a:t>
            </a:r>
            <a:r>
              <a:rPr dirty="0" spc="-45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/>
              <a:t>ALGORITMO</a:t>
            </a:r>
            <a:r>
              <a:rPr dirty="0" spc="-50"/>
              <a:t> </a:t>
            </a:r>
            <a:r>
              <a:rPr dirty="0" spc="-20"/>
              <a:t>MAIS </a:t>
            </a:r>
            <a:r>
              <a:rPr dirty="0"/>
              <a:t>ADEQUADO</a:t>
            </a:r>
            <a:r>
              <a:rPr dirty="0" spc="-35"/>
              <a:t> </a:t>
            </a:r>
            <a:r>
              <a:rPr dirty="0"/>
              <a:t>PARA</a:t>
            </a:r>
            <a:r>
              <a:rPr dirty="0" spc="-30"/>
              <a:t> </a:t>
            </a:r>
            <a:r>
              <a:rPr dirty="0"/>
              <a:t>UM</a:t>
            </a:r>
            <a:r>
              <a:rPr dirty="0" spc="-30"/>
              <a:t> </a:t>
            </a:r>
            <a:r>
              <a:rPr dirty="0"/>
              <a:t>OBJETIVO</a:t>
            </a:r>
            <a:r>
              <a:rPr dirty="0" spc="-35"/>
              <a:t> </a:t>
            </a:r>
            <a:r>
              <a:rPr dirty="0"/>
              <a:t>ESPECÍFICO.</a:t>
            </a:r>
            <a:r>
              <a:rPr dirty="0" spc="-30"/>
              <a:t> </a:t>
            </a:r>
            <a:r>
              <a:rPr dirty="0"/>
              <a:t>ELES</a:t>
            </a:r>
            <a:r>
              <a:rPr dirty="0" spc="-30"/>
              <a:t> </a:t>
            </a:r>
            <a:r>
              <a:rPr dirty="0"/>
              <a:t>FAZEM</a:t>
            </a:r>
            <a:r>
              <a:rPr dirty="0" spc="-35"/>
              <a:t> </a:t>
            </a:r>
            <a:r>
              <a:rPr dirty="0"/>
              <a:t>UM</a:t>
            </a:r>
            <a:r>
              <a:rPr dirty="0" spc="-30"/>
              <a:t> </a:t>
            </a:r>
            <a:r>
              <a:rPr dirty="0" spc="-10"/>
              <a:t>TRADE-</a:t>
            </a:r>
            <a:r>
              <a:rPr dirty="0"/>
              <a:t>OFF</a:t>
            </a:r>
            <a:r>
              <a:rPr dirty="0" spc="-30"/>
              <a:t> </a:t>
            </a:r>
            <a:r>
              <a:rPr dirty="0"/>
              <a:t>(UMA</a:t>
            </a:r>
            <a:r>
              <a:rPr dirty="0" spc="-35"/>
              <a:t> </a:t>
            </a:r>
            <a:r>
              <a:rPr dirty="0"/>
              <a:t>TROCA)</a:t>
            </a:r>
            <a:r>
              <a:rPr dirty="0" spc="-30"/>
              <a:t> </a:t>
            </a:r>
            <a:r>
              <a:rPr dirty="0" spc="-20"/>
              <a:t>ENTRE </a:t>
            </a:r>
            <a:r>
              <a:rPr dirty="0"/>
              <a:t>EFICIÊNCIA,</a:t>
            </a:r>
            <a:r>
              <a:rPr dirty="0" spc="-50"/>
              <a:t> </a:t>
            </a:r>
            <a:r>
              <a:rPr dirty="0"/>
              <a:t>JUSTIÇA</a:t>
            </a:r>
            <a:r>
              <a:rPr dirty="0" spc="-45"/>
              <a:t> </a:t>
            </a:r>
            <a:r>
              <a:rPr dirty="0"/>
              <a:t>E</a:t>
            </a:r>
            <a:r>
              <a:rPr dirty="0" spc="-50"/>
              <a:t> </a:t>
            </a:r>
            <a:r>
              <a:rPr dirty="0"/>
              <a:t>TEMPO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RESPOSTA.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8288635" cy="2472690"/>
            <a:chOff x="0" y="0"/>
            <a:chExt cx="18288635" cy="247269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537807" cy="112134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85136" y="0"/>
              <a:ext cx="3602901" cy="24724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56509" y="6661124"/>
              <a:ext cx="3031490" cy="22991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73907" y="-57264"/>
            <a:ext cx="7154545" cy="1099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Objetivos</a:t>
            </a:r>
            <a:r>
              <a:rPr dirty="0" spc="-765"/>
              <a:t> </a:t>
            </a:r>
            <a:r>
              <a:rPr dirty="0" spc="-240"/>
              <a:t>do</a:t>
            </a:r>
            <a:r>
              <a:rPr dirty="0" spc="-760"/>
              <a:t> </a:t>
            </a:r>
            <a:r>
              <a:rPr dirty="0" spc="-370"/>
              <a:t>Projeto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27992" y="1200484"/>
            <a:ext cx="14419580" cy="8648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0" indent="-333375">
              <a:lnSpc>
                <a:spcPct val="100000"/>
              </a:lnSpc>
              <a:spcBef>
                <a:spcPts val="100"/>
              </a:spcBef>
              <a:buChar char="•"/>
              <a:tabLst>
                <a:tab pos="438150" algn="l"/>
              </a:tabLst>
            </a:pPr>
            <a:r>
              <a:rPr dirty="0" sz="3100">
                <a:latin typeface="Arial"/>
                <a:cs typeface="Arial"/>
              </a:rPr>
              <a:t>1.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Implementar</a:t>
            </a:r>
            <a:r>
              <a:rPr dirty="0" sz="3100">
                <a:latin typeface="Arial"/>
                <a:cs typeface="Arial"/>
              </a:rPr>
              <a:t>: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Criar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os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principais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algoritmos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escalonamento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sz="3100">
              <a:latin typeface="Arial"/>
              <a:cs typeface="Arial"/>
            </a:endParaRPr>
          </a:p>
          <a:p>
            <a:pPr marL="438150" indent="-333375">
              <a:lnSpc>
                <a:spcPct val="100000"/>
              </a:lnSpc>
              <a:buFont typeface="Arial"/>
              <a:buChar char="•"/>
              <a:tabLst>
                <a:tab pos="438150" algn="l"/>
              </a:tabLst>
            </a:pPr>
            <a:r>
              <a:rPr dirty="0" sz="3100" b="1">
                <a:latin typeface="Arial"/>
                <a:cs typeface="Arial"/>
              </a:rPr>
              <a:t>Fila</a:t>
            </a:r>
            <a:r>
              <a:rPr dirty="0" sz="3100" spc="-7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Simples</a:t>
            </a:r>
            <a:r>
              <a:rPr dirty="0" sz="3100" spc="-70" b="1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(FIFO):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clássico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"primeiro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chegar,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primeiro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sair".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Arial"/>
              <a:buChar char="•"/>
            </a:pPr>
            <a:endParaRPr sz="3100">
              <a:latin typeface="Arial"/>
              <a:cs typeface="Arial"/>
            </a:endParaRPr>
          </a:p>
          <a:p>
            <a:pPr marL="438150" marR="5080" indent="-333375">
              <a:lnSpc>
                <a:spcPct val="107800"/>
              </a:lnSpc>
              <a:spcBef>
                <a:spcPts val="5"/>
              </a:spcBef>
              <a:buFont typeface="Arial"/>
              <a:buChar char="•"/>
              <a:tabLst>
                <a:tab pos="438150" algn="l"/>
                <a:tab pos="1511300" algn="l"/>
                <a:tab pos="2757805" algn="l"/>
                <a:tab pos="4555490" algn="l"/>
                <a:tab pos="6961505" algn="l"/>
                <a:tab pos="8581390" algn="l"/>
                <a:tab pos="9982200" algn="l"/>
                <a:tab pos="11251565" algn="l"/>
                <a:tab pos="12412980" algn="l"/>
                <a:tab pos="13246100" algn="l"/>
              </a:tabLst>
            </a:pPr>
            <a:r>
              <a:rPr dirty="0" sz="3100" spc="-20" b="1">
                <a:latin typeface="Arial"/>
                <a:cs typeface="Arial"/>
              </a:rPr>
              <a:t>Mais</a:t>
            </a:r>
            <a:r>
              <a:rPr dirty="0" sz="3100" b="1">
                <a:latin typeface="Arial"/>
                <a:cs typeface="Arial"/>
              </a:rPr>
              <a:t>	</a:t>
            </a:r>
            <a:r>
              <a:rPr dirty="0" sz="3100" spc="-20" b="1">
                <a:latin typeface="Arial"/>
                <a:cs typeface="Arial"/>
              </a:rPr>
              <a:t>Curto</a:t>
            </a:r>
            <a:r>
              <a:rPr dirty="0" sz="3100" b="1">
                <a:latin typeface="Arial"/>
                <a:cs typeface="Arial"/>
              </a:rPr>
              <a:t>	</a:t>
            </a:r>
            <a:r>
              <a:rPr dirty="0" sz="3100" spc="-10" b="1">
                <a:latin typeface="Arial"/>
                <a:cs typeface="Arial"/>
              </a:rPr>
              <a:t>Primeiro</a:t>
            </a:r>
            <a:r>
              <a:rPr dirty="0" sz="3100" b="1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(SJF/SRTF):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Executa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tarefas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curtas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antes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25">
                <a:latin typeface="Arial"/>
                <a:cs typeface="Arial"/>
              </a:rPr>
              <a:t>das</a:t>
            </a: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0">
                <a:latin typeface="Arial"/>
                <a:cs typeface="Arial"/>
              </a:rPr>
              <a:t>longas </a:t>
            </a:r>
            <a:r>
              <a:rPr dirty="0" sz="3100">
                <a:latin typeface="Arial"/>
                <a:cs typeface="Arial"/>
              </a:rPr>
              <a:t>para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otimizar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tempo.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Arial"/>
              <a:buChar char="•"/>
            </a:pPr>
            <a:endParaRPr sz="3100">
              <a:latin typeface="Arial"/>
              <a:cs typeface="Arial"/>
            </a:endParaRPr>
          </a:p>
          <a:p>
            <a:pPr marL="438150" marR="6350" indent="-333375">
              <a:lnSpc>
                <a:spcPct val="107800"/>
              </a:lnSpc>
              <a:buFont typeface="Arial"/>
              <a:buChar char="•"/>
              <a:tabLst>
                <a:tab pos="438150" algn="l"/>
              </a:tabLst>
            </a:pPr>
            <a:r>
              <a:rPr dirty="0" sz="3100" b="1">
                <a:latin typeface="Arial"/>
                <a:cs typeface="Arial"/>
              </a:rPr>
              <a:t>Round</a:t>
            </a:r>
            <a:r>
              <a:rPr dirty="0" sz="3100" spc="2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Robin</a:t>
            </a:r>
            <a:r>
              <a:rPr dirty="0" sz="3100" spc="2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(RR):</a:t>
            </a:r>
            <a:r>
              <a:rPr dirty="0" sz="3100" spc="25" b="1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Revezamento</a:t>
            </a:r>
            <a:r>
              <a:rPr dirty="0" sz="3100" spc="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justo</a:t>
            </a:r>
            <a:r>
              <a:rPr dirty="0" sz="3100" spc="2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por</a:t>
            </a:r>
            <a:r>
              <a:rPr dirty="0" sz="3100" spc="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tempo</a:t>
            </a:r>
            <a:r>
              <a:rPr dirty="0" sz="3100" spc="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(Quantum);</a:t>
            </a:r>
            <a:r>
              <a:rPr dirty="0" sz="3100" spc="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impede</a:t>
            </a:r>
            <a:r>
              <a:rPr dirty="0" sz="3100" spc="2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que</a:t>
            </a:r>
            <a:r>
              <a:rPr dirty="0" sz="3100" spc="2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um </a:t>
            </a:r>
            <a:r>
              <a:rPr dirty="0" sz="3100">
                <a:latin typeface="Arial"/>
                <a:cs typeface="Arial"/>
              </a:rPr>
              <a:t>processo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monopolize</a:t>
            </a:r>
            <a:r>
              <a:rPr dirty="0" sz="3100" spc="-12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CPU.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sz="3100">
              <a:latin typeface="Arial"/>
              <a:cs typeface="Arial"/>
            </a:endParaRPr>
          </a:p>
          <a:p>
            <a:pPr marL="438150" indent="-333375">
              <a:lnSpc>
                <a:spcPct val="100000"/>
              </a:lnSpc>
              <a:buFont typeface="Arial"/>
              <a:buChar char="•"/>
              <a:tabLst>
                <a:tab pos="438150" algn="l"/>
              </a:tabLst>
            </a:pPr>
            <a:r>
              <a:rPr dirty="0" sz="3100" b="1">
                <a:latin typeface="Arial"/>
                <a:cs typeface="Arial"/>
              </a:rPr>
              <a:t>Prioridade</a:t>
            </a:r>
            <a:r>
              <a:rPr dirty="0" sz="3100">
                <a:latin typeface="Arial"/>
                <a:cs typeface="Arial"/>
              </a:rPr>
              <a:t>: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Tarefas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urgentes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(maior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prioridade)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passam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na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frente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das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comuns.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3100">
              <a:latin typeface="Arial"/>
              <a:cs typeface="Arial"/>
            </a:endParaRPr>
          </a:p>
          <a:p>
            <a:pPr marL="449580" indent="-436880">
              <a:lnSpc>
                <a:spcPct val="100000"/>
              </a:lnSpc>
              <a:buFont typeface="Arial"/>
              <a:buAutoNum type="arabicPeriod" startAt="2"/>
              <a:tabLst>
                <a:tab pos="449580" algn="l"/>
                <a:tab pos="10052050" algn="l"/>
              </a:tabLst>
            </a:pPr>
            <a:r>
              <a:rPr dirty="0" sz="3100" b="1">
                <a:latin typeface="Arial"/>
                <a:cs typeface="Arial"/>
              </a:rPr>
              <a:t>Visualizar</a:t>
            </a:r>
            <a:r>
              <a:rPr dirty="0" sz="3100">
                <a:latin typeface="Arial"/>
                <a:cs typeface="Arial"/>
              </a:rPr>
              <a:t>: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Construir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uma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interface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web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que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mostre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 spc="-50">
                <a:latin typeface="Arial"/>
                <a:cs typeface="Arial"/>
              </a:rPr>
              <a:t>a</a:t>
            </a:r>
            <a:r>
              <a:rPr dirty="0" sz="3100">
                <a:latin typeface="Arial"/>
                <a:cs typeface="Arial"/>
              </a:rPr>
              <a:t>	execução</a:t>
            </a:r>
            <a:r>
              <a:rPr dirty="0" sz="3100" spc="-11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dos</a:t>
            </a:r>
            <a:r>
              <a:rPr dirty="0" sz="3100" spc="-11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processos</a:t>
            </a:r>
            <a:endParaRPr sz="3100">
              <a:latin typeface="Arial"/>
              <a:cs typeface="Arial"/>
            </a:endParaRPr>
          </a:p>
          <a:p>
            <a:pPr marL="5778500">
              <a:lnSpc>
                <a:spcPct val="100000"/>
              </a:lnSpc>
              <a:spcBef>
                <a:spcPts val="290"/>
              </a:spcBef>
            </a:pPr>
            <a:r>
              <a:rPr dirty="0" sz="3100">
                <a:latin typeface="Arial"/>
                <a:cs typeface="Arial"/>
              </a:rPr>
              <a:t>em</a:t>
            </a:r>
            <a:r>
              <a:rPr dirty="0" sz="3100" spc="-7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tempo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real.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3100">
              <a:latin typeface="Arial"/>
              <a:cs typeface="Arial"/>
            </a:endParaRPr>
          </a:p>
          <a:p>
            <a:pPr marL="1149350" marR="725805" indent="-436880">
              <a:lnSpc>
                <a:spcPct val="107800"/>
              </a:lnSpc>
              <a:spcBef>
                <a:spcPts val="5"/>
              </a:spcBef>
              <a:buFont typeface="Arial"/>
              <a:buAutoNum type="arabicPeriod" startAt="3"/>
              <a:tabLst>
                <a:tab pos="1522730" algn="l"/>
                <a:tab pos="3447415" algn="l"/>
              </a:tabLst>
            </a:pPr>
            <a:r>
              <a:rPr dirty="0" sz="3100" b="1">
                <a:latin typeface="Arial"/>
                <a:cs typeface="Arial"/>
              </a:rPr>
              <a:t>Analisa</a:t>
            </a:r>
            <a:r>
              <a:rPr dirty="0" sz="3100">
                <a:latin typeface="Arial"/>
                <a:cs typeface="Arial"/>
              </a:rPr>
              <a:t>r: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Gerar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métricas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desempenho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(Tempo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Espera/Tempo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de </a:t>
            </a:r>
            <a:r>
              <a:rPr dirty="0" sz="3100" spc="-25">
                <a:latin typeface="Arial"/>
                <a:cs typeface="Arial"/>
              </a:rPr>
              <a:t>	</a:t>
            </a:r>
            <a:r>
              <a:rPr dirty="0" sz="3100">
                <a:latin typeface="Arial"/>
                <a:cs typeface="Arial"/>
              </a:rPr>
              <a:t>retorno)</a:t>
            </a:r>
            <a:r>
              <a:rPr dirty="0" sz="3100" spc="-120">
                <a:latin typeface="Arial"/>
                <a:cs typeface="Arial"/>
              </a:rPr>
              <a:t> </a:t>
            </a:r>
            <a:r>
              <a:rPr dirty="0" sz="3100" spc="-50">
                <a:latin typeface="Arial"/>
                <a:cs typeface="Arial"/>
              </a:rPr>
              <a:t>e</a:t>
            </a:r>
            <a:r>
              <a:rPr dirty="0" sz="3100">
                <a:latin typeface="Arial"/>
                <a:cs typeface="Arial"/>
              </a:rPr>
              <a:t>	um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Diagrama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Gantt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para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comparar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os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algoritmos.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246" y="696123"/>
            <a:ext cx="17757267" cy="8878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0"/>
              <a:t>Tecnologias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/>
              <a:t>Demostração</a:t>
            </a:r>
            <a:r>
              <a:rPr dirty="0" spc="-755"/>
              <a:t> </a:t>
            </a:r>
            <a:r>
              <a:rPr dirty="0" spc="-240"/>
              <a:t>do</a:t>
            </a:r>
            <a:r>
              <a:rPr dirty="0" spc="-750"/>
              <a:t> </a:t>
            </a:r>
            <a:r>
              <a:rPr dirty="0" spc="-370"/>
              <a:t>Projeto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02901" cy="23797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749143" y="4937162"/>
            <a:ext cx="424434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6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http://98.80.39.0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2025-11-25T11:45:21Z</dcterms:created>
  <dcterms:modified xsi:type="dcterms:W3CDTF">2025-11-25T11:45:21Z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LastSaved">
    <vt:filetime>2025-11-25T00:00:00Z</vt:filetime>
  </property>
  <property fmtid="{D5CDD505-2E9C-101B-9397-08002B2CF9AE}" pid="4" name="Producer">
    <vt:lpwstr>3-Heights(TM) PDF Security Shell 4.8.25.2 (http://www.pdf-tools.com)</vt:lpwstr>
  </property>
</Properties>
</file>